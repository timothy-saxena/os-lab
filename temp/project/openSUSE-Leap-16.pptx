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0" r:id="rId5"/>
    <p:sldId id="267" r:id="rId6"/>
    <p:sldId id="268" r:id="rId7"/>
    <p:sldId id="269" r:id="rId8"/>
    <p:sldId id="270" r:id="rId9"/>
    <p:sldId id="266" r:id="rId10"/>
    <p:sldId id="262" r:id="rId11"/>
    <p:sldId id="259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Bold" panose="020F0502020204030203" charset="0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75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87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42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10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46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901"/>
            <a:ext cx="7094166" cy="113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openSUSE Leap 16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93790" y="308717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 Case Study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943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97373"/>
            <a:ext cx="3948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Timothy Saxena (24261A05R4)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5142428"/>
            <a:ext cx="3260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 Harshini (24261A05R5)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5587484"/>
            <a:ext cx="4897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Vanam Sai Mani Akshat (24261A05R6)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EDBAF-8A37-9796-B4D9-322F59C63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826" y="206692"/>
            <a:ext cx="89367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Name, Pronunciation &amp; Mascot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04826" y="1190625"/>
            <a:ext cx="10363199" cy="697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Pronounced: </a:t>
            </a: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"open-SOO-zuh"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rhymes with open source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SUSE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a German </a:t>
            </a:r>
            <a:r>
              <a:rPr lang="en-US" sz="20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acronym: </a:t>
            </a:r>
            <a:r>
              <a:rPr lang="en-US" sz="2000" b="1" i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Software und System-Entwicklung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(Software &amp; Systems Development)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Founded in </a:t>
            </a: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Nuremberg, Germany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the name honours </a:t>
            </a: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Konrad Zuse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inventor of the first programmable computer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"open"SUSE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"open" added </a:t>
            </a:r>
            <a:r>
              <a:rPr lang="en-US" sz="20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2005 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development was opened to the public community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Mascot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</a:t>
            </a:r>
            <a:r>
              <a:rPr lang="en-US" sz="2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Geeko the Chameleon</a:t>
            </a: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symbolises adaptability across any environment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1E839-C8B7-DC3E-9B59-C37C73E8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791" y="2633663"/>
            <a:ext cx="3377546" cy="3462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A751A3-4619-5996-D76C-40E0C72F7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1878"/>
            <a:ext cx="62169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openSUSE Leap?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00025" y="2567940"/>
            <a:ext cx="7682984" cy="514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free,</a:t>
            </a: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open-source </a:t>
            </a: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distribution</a:t>
            </a:r>
            <a:endParaRPr lang="en-US" sz="22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for </a:t>
            </a: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stability, reliability, and professional use</a:t>
            </a:r>
            <a:endParaRPr lang="en-US" sz="22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flavours under openSUSE:             </a:t>
            </a:r>
            <a:endParaRPr lang="en-US" sz="2200" dirty="0"/>
          </a:p>
          <a:p>
            <a:pPr marL="685800" lvl="1" indent="-342900" algn="l">
              <a:lnSpc>
                <a:spcPct val="150000"/>
              </a:lnSpc>
              <a:buSzPct val="100000"/>
              <a:buChar char="◦"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Leap</a:t>
            </a: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stable, </a:t>
            </a:r>
            <a:r>
              <a:rPr lang="en-US" sz="22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releases, You leap from v15 → v16  </a:t>
            </a:r>
          </a:p>
          <a:p>
            <a:pPr marL="685800" lvl="1" indent="-342900" algn="l">
              <a:lnSpc>
                <a:spcPct val="150000"/>
              </a:lnSpc>
              <a:buSzPct val="100000"/>
              <a:buChar char="◦"/>
            </a:pPr>
            <a:r>
              <a:rPr lang="en-US" sz="2200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Tumbleweed</a:t>
            </a:r>
            <a:r>
              <a:rPr lang="en-US" sz="22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rolling release, </a:t>
            </a:r>
            <a:r>
              <a:rPr lang="en-US" sz="22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always latest</a:t>
            </a:r>
          </a:p>
          <a:p>
            <a:pPr marL="342900" lvl="1" algn="l">
              <a:lnSpc>
                <a:spcPct val="150000"/>
              </a:lnSpc>
              <a:buSzPct val="100000"/>
            </a:pPr>
            <a:endParaRPr lang="en-US" sz="22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Based on </a:t>
            </a: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SUSE Linux Enterprise (SLE)</a:t>
            </a: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the OS large corporations pay for</a:t>
            </a:r>
            <a:endParaRPr lang="en-US" sz="22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release: </a:t>
            </a: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Leap 16</a:t>
            </a: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released October 1,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09823" y="2696766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257" y="3061454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4559" y="2993232"/>
            <a:ext cx="54999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Enterprise-grade Linux, available to everyone for free.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109823" y="4278630"/>
            <a:ext cx="6244709" cy="2256592"/>
          </a:xfrm>
          <a:prstGeom prst="roundRect">
            <a:avLst>
              <a:gd name="adj" fmla="val 1508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257" y="4643319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54559" y="4575096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Think of it like: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8854559" y="5142072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Fortune 500 companies pay thousands for SUSE Linux Enterprise. Leap gives you the </a:t>
            </a:r>
            <a:r>
              <a:rPr lang="en-US" sz="17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codebase</a:t>
            </a: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for free.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DFDD5F-B862-DDB0-E5B9-B18415464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DE388A-95BE-01E8-306F-9BDFE9824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296" y="4493003"/>
            <a:ext cx="1154159" cy="889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396"/>
            <a:ext cx="883670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Was It Made? The Problem It Solved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14513"/>
            <a:ext cx="13042821" cy="1491258"/>
          </a:xfrm>
          <a:prstGeom prst="roundRect">
            <a:avLst>
              <a:gd name="adj" fmla="val 1939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2051804"/>
            <a:ext cx="301228" cy="240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0542" y="2026444"/>
            <a:ext cx="447282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1 — SUSE Was Closed (pre-2005)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480542" y="2491502"/>
            <a:ext cx="1216330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SUSE Linux was a paid product only</a:t>
            </a:r>
            <a:r>
              <a:rPr lang="en-US" sz="15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Community developers could not contribute</a:t>
            </a:r>
            <a:r>
              <a:rPr lang="en-US" sz="150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3790" y="3490079"/>
            <a:ext cx="13042821" cy="1205984"/>
          </a:xfrm>
          <a:prstGeom prst="roundRect">
            <a:avLst>
              <a:gd name="adj" fmla="val 2398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3727371"/>
            <a:ext cx="301228" cy="2409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0542" y="3702010"/>
            <a:ext cx="674882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2 — openSUSE Existed but Was Unstable (2005–2015)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480542" y="4167068"/>
            <a:ext cx="1216330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</a:t>
            </a:r>
            <a:r>
              <a:rPr lang="en-US" sz="15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 opened</a:t>
            </a:r>
            <a:r>
              <a:rPr lang="en-US" sz="15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the community version chased the latest software. Exciting, but too </a:t>
            </a:r>
            <a:r>
              <a:rPr lang="en-US" sz="15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unreliable</a:t>
            </a:r>
            <a:r>
              <a:rPr lang="en-US" sz="15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serious or professional use.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93790" y="5661499"/>
            <a:ext cx="13042821" cy="1683706"/>
          </a:xfrm>
          <a:prstGeom prst="roundRect">
            <a:avLst>
              <a:gd name="adj" fmla="val 2691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52" y="6507956"/>
            <a:ext cx="301228" cy="2409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0542" y="5856051"/>
            <a:ext cx="12163306" cy="122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Solution — Leap (</a:t>
            </a:r>
            <a:r>
              <a:rPr lang="en-US" sz="2400" b="1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2015):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2400" b="1">
              <a:solidFill>
                <a:srgbClr val="000000"/>
              </a:solidFill>
              <a:latin typeface="Lato Bold" pitchFamily="34" charset="0"/>
              <a:ea typeface="Lato Bold" pitchFamily="34" charset="-122"/>
              <a:cs typeface="Lato Bold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400" b="1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Sync </a:t>
            </a:r>
            <a:r>
              <a:rPr lang="en-US" sz="24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openSUSE directly with SUSE Linux Enterprise source </a:t>
            </a:r>
            <a:r>
              <a:rPr lang="en-US" sz="2400" b="1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code.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400" b="1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Same </a:t>
            </a:r>
            <a:r>
              <a:rPr lang="en-US" sz="24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stability. Same security. Zero cost.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3A60C5-45A5-7968-8346-23AEBE4A7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40" y="344924"/>
            <a:ext cx="1281445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</a:t>
            </a:r>
            <a:r>
              <a:rPr lang="en-US" sz="42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Functionality 1 – User Interface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89" y="1368147"/>
            <a:ext cx="583561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Interface based on KDE Plasma 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88" y="1909406"/>
            <a:ext cx="12988885" cy="7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Tx/>
              <a:buChar char="•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gives you the taskbar, file manaopenSUSE Leap 16 offers KDE Plasma 6.4 as the main desktop choice</a:t>
            </a:r>
            <a:endParaRPr lang="en-US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ger, settings app, window decorations, start menu — all of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18F7C-FCF1-8419-652E-C3E9C6E8C8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959" y="2765166"/>
            <a:ext cx="9580880" cy="5244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B1109D-DFC0-B201-AAFD-6AF1F94A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0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75654"/>
            <a:ext cx="1281445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</a:t>
            </a:r>
            <a:r>
              <a:rPr lang="en-US" sz="42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Functionality 2 </a:t>
            </a: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— Installing &amp; Managing Software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77574" y="3050023"/>
            <a:ext cx="273710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Myrlyn (App Installer)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31815" y="3620689"/>
            <a:ext cx="6258520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</a:t>
            </a: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Myrlyn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from the app launcher</a:t>
            </a:r>
            <a:endParaRPr lang="en-US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 for any application by name</a:t>
            </a:r>
            <a:endParaRPr lang="en-US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Click </a:t>
            </a: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Install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done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fast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focused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174E9C-B822-BE4B-D3B9-D2C5F4A1E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443" y="1861840"/>
            <a:ext cx="10153355" cy="55581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1E0BD3-D117-6CAB-CF9A-4F7AC8C7B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0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75654"/>
            <a:ext cx="1281445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</a:t>
            </a:r>
            <a:r>
              <a:rPr lang="en-US" sz="42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Functionality 3 – </a:t>
            </a:r>
            <a:r>
              <a:rPr lang="en-US" sz="44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Memory  Management</a:t>
            </a:r>
            <a:endParaRPr lang="en-US" sz="4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1E0BD3-D117-6CAB-CF9A-4F7AC8C7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504099-0F58-8864-B206-FCF5929218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82" y="1787365"/>
            <a:ext cx="9976204" cy="5461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050DB72-E97D-8753-E959-6BDFB592E685}"/>
              </a:ext>
            </a:extLst>
          </p:cNvPr>
          <p:cNvSpPr/>
          <p:nvPr/>
        </p:nvSpPr>
        <p:spPr>
          <a:xfrm>
            <a:off x="231814" y="2959775"/>
            <a:ext cx="5873711" cy="450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Handled entirely by the </a:t>
            </a:r>
            <a:r>
              <a:rPr lang="en-US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kernel</a:t>
            </a: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memory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running program gets its 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protected memory space</a:t>
            </a:r>
          </a:p>
          <a:p>
            <a:pPr algn="l">
              <a:lnSpc>
                <a:spcPts val="2400"/>
              </a:lnSpc>
              <a:buSzPct val="100000"/>
            </a:pPr>
            <a:endParaRPr lang="en-US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Swap partition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acts as 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overflow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RAM 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 full</a:t>
            </a:r>
          </a:p>
          <a:p>
            <a:pPr algn="l">
              <a:lnSpc>
                <a:spcPts val="2400"/>
              </a:lnSpc>
              <a:buSzPct val="100000"/>
            </a:pPr>
            <a:endParaRPr lang="en-US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Cockpit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shows </a:t>
            </a: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</a:t>
            </a:r>
            <a:r>
              <a:rPr lang="en-US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RAM usage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watch 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memory being allocated live </a:t>
            </a: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</a:t>
            </a: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36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75654"/>
            <a:ext cx="1281445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</a:t>
            </a:r>
            <a:r>
              <a:rPr lang="en-US" sz="42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Functionality 4 – </a:t>
            </a:r>
            <a:r>
              <a:rPr lang="en-US" sz="44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Files, Storage Management </a:t>
            </a:r>
            <a:endParaRPr lang="en-US" sz="4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1E0BD3-D117-6CAB-CF9A-4F7AC8C7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050DB72-E97D-8753-E959-6BDFB592E685}"/>
              </a:ext>
            </a:extLst>
          </p:cNvPr>
          <p:cNvSpPr/>
          <p:nvPr/>
        </p:nvSpPr>
        <p:spPr>
          <a:xfrm>
            <a:off x="231814" y="2959775"/>
            <a:ext cx="5873711" cy="450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filesystem in Leap 16</a:t>
            </a: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endParaRPr lang="en-US" sz="180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Superpower: </a:t>
            </a:r>
            <a:r>
              <a:rPr lang="en-US" sz="1800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 snapshots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saved before every update</a:t>
            </a:r>
          </a:p>
          <a:p>
            <a:pPr algn="l">
              <a:lnSpc>
                <a:spcPts val="2400"/>
              </a:lnSpc>
              <a:buSzPct val="100000"/>
            </a:pPr>
            <a:endParaRPr lang="en-US" sz="180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Btrfs = </a:t>
            </a:r>
            <a:r>
              <a:rPr lang="en-US" sz="1800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Ctrl+Z for your entire OS</a:t>
            </a: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endParaRPr lang="en-US" sz="180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800" b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Dolphin</a:t>
            </a: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the default file manager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 sz="18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tabbed, powerful, clean</a:t>
            </a:r>
            <a:endParaRPr lang="en-US" sz="18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FEA1782-161A-49AE-B260-A029B2483775}"/>
              </a:ext>
            </a:extLst>
          </p:cNvPr>
          <p:cNvSpPr/>
          <p:nvPr/>
        </p:nvSpPr>
        <p:spPr>
          <a:xfrm>
            <a:off x="140761" y="2330529"/>
            <a:ext cx="525038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File System — Btrfs </a:t>
            </a:r>
            <a:r>
              <a:rPr lang="en-US" sz="24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("Better </a:t>
            </a: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FS")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AB26B5-98CA-02A1-1FCC-1CDEB5F3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947" y="1221385"/>
            <a:ext cx="6879797" cy="4299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979729-FF6C-9F67-6420-56D151E2A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923" y="5707652"/>
            <a:ext cx="9711844" cy="23736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784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223"/>
            <a:ext cx="967501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</a:t>
            </a:r>
            <a:r>
              <a:rPr lang="en-US" sz="42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Functionality 5 </a:t>
            </a: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— Devices, I/O &amp; Security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41365" y="17909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Device Management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441365" y="2255996"/>
            <a:ext cx="6286262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Handled by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udev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the Linux device manager</a:t>
            </a:r>
            <a:endParaRPr lang="en-US" sz="16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Plug in a USB drive: udev detects it instantly, mounts it automatically</a:t>
            </a:r>
            <a:endParaRPr lang="en-US" sz="16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Printers managed via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CUPS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(Common Unix Printing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365" y="367545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I/O System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41365" y="4140517"/>
            <a:ext cx="6286262" cy="1540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I/O flows through the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kernel's I/O subsystem</a:t>
            </a:r>
            <a:endParaRPr lang="en-US" sz="16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Kernel treats devices, files, and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connections</a:t>
            </a:r>
          </a:p>
          <a:p>
            <a:pPr algn="l">
              <a:lnSpc>
                <a:spcPts val="2200"/>
              </a:lnSpc>
              <a:buSzPct val="100000"/>
            </a:pP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	 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 descriptors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one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unified interface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1365" y="553081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Security — SELinux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41365" y="5995868"/>
            <a:ext cx="6286262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SELinux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(Security-Enhanced Linux) enforced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default</a:t>
            </a:r>
            <a:endParaRPr lang="en-US" sz="16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Originally developed by the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 National Security Agency (NSA)</a:t>
            </a:r>
            <a:endParaRPr lang="en-US" sz="16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 if a program is hacked, SELinux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contains the damage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76E1FC-6809-3C83-25E9-2D932411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3BB3A2-8569-CFF8-16FE-7B4E31E471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839" y="1995606"/>
            <a:ext cx="7742498" cy="42383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6202"/>
            <a:ext cx="111373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openSUSE Leap Does Well — and What It Doesn't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80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61298"/>
            <a:ext cx="6435685" cy="434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Rock-solid stability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Rarely breaks — thoroughly tested before every release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Enterprise-grade security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SELinux enforced by default — same as US DoD systems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Btrfs snapshots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back your entire OS like pressing Ctrl+Z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Long support lifecycle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Leap 16 supported until 2031 — 6 years!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Cockpit web dashboard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your entire OS through a browser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99521" y="2180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2761298"/>
            <a:ext cx="6244709" cy="434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Steeper learning curve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as beginner-friendly as Ubuntu or Mint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Smaller community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Fewer online tutorials compared to Ubuntu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great for gaming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SELinux causes friction; 32-bit disabled by default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Slower software updates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Intentional, but newer app versions arrive late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 download size             </a:t>
            </a:r>
            <a:endParaRPr lang="en-US" b="1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Heavier ISO compared to minimal distros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4DE417-1AEF-4EAA-2F99-455DD2ED0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635"/>
            <a:ext cx="384929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History: Who Built It &amp; When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07580" y="1256824"/>
            <a:ext cx="15240" cy="6276142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7035641" y="1415058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5" name="Shape 3"/>
          <p:cNvSpPr/>
          <p:nvPr/>
        </p:nvSpPr>
        <p:spPr>
          <a:xfrm>
            <a:off x="7259955" y="1367433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4882515" y="13074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1992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3790" y="1595199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German students found S.u.S.E. in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Nuremberg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99960" y="2196346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9" name="Shape 7"/>
          <p:cNvSpPr/>
          <p:nvPr/>
        </p:nvSpPr>
        <p:spPr>
          <a:xfrm>
            <a:off x="7259955" y="2148721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10" name="Text 8"/>
          <p:cNvSpPr/>
          <p:nvPr/>
        </p:nvSpPr>
        <p:spPr>
          <a:xfrm>
            <a:off x="7904917" y="208871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1994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904917" y="2376488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S.u.S.E. Linux 1.0 released — one of the oldest Linux distros still alive today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35641" y="2907149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59955" y="2859524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515" y="279951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1996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3790" y="3087291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Adopted RPM packaging &amp; launched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YaST 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9960" y="3617952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9955" y="3570327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04917" y="351032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2004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904917" y="3798094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Novell acquires SUSE for $210 million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35641" y="4328755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21" name="Shape 19"/>
          <p:cNvSpPr/>
          <p:nvPr/>
        </p:nvSpPr>
        <p:spPr>
          <a:xfrm>
            <a:off x="7259955" y="4281130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515" y="422112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2005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3790" y="4508896"/>
            <a:ext cx="6125526" cy="530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openSUSE community project launched 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 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opened to the public for first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99960" y="5039558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25" name="Shape 23"/>
          <p:cNvSpPr/>
          <p:nvPr/>
        </p:nvSpPr>
        <p:spPr>
          <a:xfrm>
            <a:off x="7259955" y="4991933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26" name="Text 24"/>
          <p:cNvSpPr/>
          <p:nvPr/>
        </p:nvSpPr>
        <p:spPr>
          <a:xfrm>
            <a:off x="7904917" y="493192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2015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904916" y="5219700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Split into Leap (stable) and Tumbleweed (</a:t>
            </a:r>
            <a:r>
              <a:rPr lang="en-US" sz="160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rolling)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35641" y="5750362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259955" y="5702737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515" y="564272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2019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93790" y="5930503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SUSE becomes independent again after EQT Partners buyout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99960" y="6461165"/>
            <a:ext cx="294799" cy="15240"/>
          </a:xfrm>
          <a:prstGeom prst="roundRect">
            <a:avLst>
              <a:gd name="adj" fmla="val 145116"/>
            </a:avLst>
          </a:prstGeom>
          <a:solidFill>
            <a:srgbClr val="CBC5B8"/>
          </a:solidFill>
          <a:ln/>
        </p:spPr>
      </p:sp>
      <p:sp>
        <p:nvSpPr>
          <p:cNvPr id="33" name="Shape 31"/>
          <p:cNvSpPr/>
          <p:nvPr/>
        </p:nvSpPr>
        <p:spPr>
          <a:xfrm>
            <a:off x="7259955" y="6413540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282824"/>
          </a:solidFill>
          <a:ln/>
        </p:spPr>
      </p:sp>
      <p:sp>
        <p:nvSpPr>
          <p:cNvPr id="34" name="Text 32"/>
          <p:cNvSpPr/>
          <p:nvPr/>
        </p:nvSpPr>
        <p:spPr>
          <a:xfrm>
            <a:off x="7904917" y="635353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803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Oct 2025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904917" y="6641306"/>
            <a:ext cx="593169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15803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Leap </a:t>
            </a:r>
            <a:r>
              <a:rPr lang="en-US" sz="1600">
                <a:solidFill>
                  <a:srgbClr val="15803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released</a:t>
            </a:r>
            <a:endParaRPr lang="en-US" sz="1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8B61ADA-E814-D45C-4EA3-55A73CAB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721" y="4771748"/>
            <a:ext cx="1502696" cy="11587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CABEDCE-B4F3-4411-151E-ED2FA1154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662" y="7572375"/>
            <a:ext cx="2352675" cy="59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820</Words>
  <Application>Microsoft Office PowerPoint</Application>
  <PresentationFormat>Custom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Lato</vt:lpstr>
      <vt:lpstr>Calibri</vt:lpstr>
      <vt:lpstr>Lato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Anurodh Saxena</cp:lastModifiedBy>
  <cp:revision>27</cp:revision>
  <dcterms:created xsi:type="dcterms:W3CDTF">2026-04-22T18:09:59Z</dcterms:created>
  <dcterms:modified xsi:type="dcterms:W3CDTF">2026-04-23T11:29:23Z</dcterms:modified>
</cp:coreProperties>
</file>